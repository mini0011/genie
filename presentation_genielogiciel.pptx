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987289"/>
            <a:ext cx="7143750" cy="3168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428750" y="1415914"/>
            <a:ext cx="62865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Plateforme de Recherche de Personnes Disparues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428750" y="2656024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L'urgence de la recherche de personnes disparues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86" y="3545421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30598" y="3520418"/>
            <a:ext cx="11822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Publicité Sociale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639" y="3545421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30811" y="3520418"/>
            <a:ext cx="14912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Coordination Terrain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819" y="3545421"/>
            <a:ext cx="17859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7850" y="3520418"/>
            <a:ext cx="17698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Collaboration Citoyenne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Une plateforme centralisée et collaborative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85888"/>
            <a:ext cx="428625" cy="428625"/>
          </a:xfrm>
          <a:prstGeom prst="ellipse">
            <a:avLst/>
          </a:prstGeom>
          <a:solidFill>
            <a:srgbClr val="00808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14475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385888"/>
            <a:ext cx="3286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Publicité Sociale Dédiée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43000" y="1757363"/>
            <a:ext cx="3286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 espace exclusif pour les avis de recherche, évitant la dilution de l'information sur les réseaux sociaux généralistes.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14875" y="1385888"/>
            <a:ext cx="428625" cy="428625"/>
          </a:xfrm>
          <a:prstGeom prst="ellipse">
            <a:avLst/>
          </a:prstGeom>
          <a:solidFill>
            <a:srgbClr val="008080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747" y="1514475"/>
            <a:ext cx="192881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6375" y="1385888"/>
            <a:ext cx="3286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Centralisation par Zone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286375" y="1757363"/>
            <a:ext cx="3286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Organisation des opérations de recherche par secteurs géographiques précis pour une efficacité maximale sur le terrain.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71500" y="3407569"/>
            <a:ext cx="428625" cy="428625"/>
          </a:xfrm>
          <a:prstGeom prst="ellipse">
            <a:avLst/>
          </a:prstGeom>
          <a:solidFill>
            <a:srgbClr val="00808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536156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407569"/>
            <a:ext cx="3286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Collaboration en Temps Réel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143000" y="3779044"/>
            <a:ext cx="3286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Outils de coordination directe entre les familles, les bénévoles et les professionnels de la recherche.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14875" y="3407569"/>
            <a:ext cx="428625" cy="428625"/>
          </a:xfrm>
          <a:prstGeom prst="ellipse">
            <a:avLst/>
          </a:prstGeom>
          <a:solidFill>
            <a:srgbClr val="00808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3536156"/>
            <a:ext cx="128588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6375" y="3407569"/>
            <a:ext cx="32861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Alerte Géolocalisée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286375" y="3779044"/>
            <a:ext cx="3286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Système de notification instantanée pour mobiliser la communauté locale dès les premières minutes de la disparition.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MVP : Les fonctionnalités clés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4" y="1778794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1563" y="1528763"/>
            <a:ext cx="31003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Déclaration Simplifiée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071563" y="1807369"/>
            <a:ext cx="3062883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Formulaire rapide pour uploader photo,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071563" y="2043113"/>
            <a:ext cx="2643188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signalement et dernier lieu connu.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" y="2807494"/>
            <a:ext cx="200025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1563" y="2557463"/>
            <a:ext cx="31003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Diffusion Instantanée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071563" y="2836069"/>
            <a:ext cx="2777133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Publication automatique de l'avis et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071563" y="3071813"/>
            <a:ext cx="2480667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partage sur les réseaux sociaux.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3836194"/>
            <a:ext cx="257175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1563" y="3586163"/>
            <a:ext cx="31003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Carte Interactive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1071563" y="3864769"/>
            <a:ext cx="2848570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Visualisation des disparitions actives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071563" y="4100513"/>
            <a:ext cx="1862733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 zone géographique.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056" y="1778794"/>
            <a:ext cx="257175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72113" y="1528763"/>
            <a:ext cx="31003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Signalement de Pistes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472113" y="1807369"/>
            <a:ext cx="2355652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Possibilité pour les citoyens de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5472113" y="2043113"/>
            <a:ext cx="3034308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soumettre des témoignages et indices.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769" y="2807494"/>
            <a:ext cx="28575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72113" y="2557463"/>
            <a:ext cx="31003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Coordination de Base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5472113" y="2836069"/>
            <a:ext cx="2686050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Espace minimal pour organiser les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5472113" y="3071813"/>
            <a:ext cx="3045023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premiers groupes de recherche locaux.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344" y="3836194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72113" y="3586163"/>
            <a:ext cx="31003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Validation Rapide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5472113" y="3864769"/>
            <a:ext cx="2786063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Processus de vérification initial pour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5472113" y="4100513"/>
            <a:ext cx="2405658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garantir la véracité des alertes.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Besoins Fonctionnels : Déclaration et Alertes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8769"/>
            <a:ext cx="250031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688" y="1528763"/>
            <a:ext cx="256817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Gestion des Déclarations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3113"/>
            <a:ext cx="128588" cy="16430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2043113"/>
            <a:ext cx="35504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Profils de disparus :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Stockage sécurisé des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photos haute résolution et descriptions physiques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détaillées.</a:t>
            </a:r>
            <a:endParaRPr lang="en-US" sz="1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21781"/>
            <a:ext cx="128588" cy="16430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7244" y="2821781"/>
            <a:ext cx="35504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Validation des données :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Processus de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vérification rigoureux pour prévenir les fausses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alertes et le spam.</a:t>
            </a:r>
            <a:endParaRPr lang="en-US" sz="10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00450"/>
            <a:ext cx="128588" cy="16430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07244" y="3600450"/>
            <a:ext cx="35504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Tableau de bord famille :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Interface dédiée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permettant aux proches de mettre à jour les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informations en temps réel.</a:t>
            </a:r>
            <a:endParaRPr lang="en-US" sz="10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578769"/>
            <a:ext cx="225028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118497" y="1528763"/>
            <a:ext cx="18573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Système d'Alertes</a:t>
            </a:r>
            <a:endParaRPr lang="en-US" sz="14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043113"/>
            <a:ext cx="96441" cy="16430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989909" y="2043113"/>
            <a:ext cx="358259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Alertes "Flash" :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Notifications push et emails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envoyés instantanément aux utilisateurs dans un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rayon défini.</a:t>
            </a:r>
            <a:endParaRPr lang="en-US" sz="10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821781"/>
            <a:ext cx="96441" cy="164306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989909" y="2821781"/>
            <a:ext cx="358259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Génération d'affiches :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Création automatique de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flyers PDF optimisés pour l'impression et le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partage.</a:t>
            </a:r>
            <a:endParaRPr lang="en-US" sz="10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600450"/>
            <a:ext cx="112514" cy="164306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05983" y="3600450"/>
            <a:ext cx="356651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Relais social :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Boutons de partage rapide vers les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messageries et réseaux sociaux pour une viralité </a:t>
            </a:r>
            <a:r>
              <a:rPr lang="en-US" sz="10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contrôlée.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Besoins Fonctionnels : Coordination par Zone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593056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8719" y="1528763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Cartographie Dynamique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78719" y="1891308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Découpage précis de la zone de recherche en secteurs assignables aux différentes équipes pour une couverture exhaustive.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593056"/>
            <a:ext cx="214313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93531" y="1528763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Suivi GPS en Temps Réel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393531" y="1891308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Visualisation de la position des équipes sur le terrain pour assurer leur sécurité et vérifier les zones déjà parcourues.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614738"/>
            <a:ext cx="285750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78719" y="3550444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Journal de Recherche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178719" y="3912989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Enregistrement historique des zones fouillées et des résultats obtenus pour éviter les redondances et optimiser les ressources.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614738"/>
            <a:ext cx="285750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93531" y="3550444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Signalement de Preuves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393531" y="3912989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Collecte de photos et d'indices géotagués directement depuis le terrain pour une analyse immédiate par le centre de commandement.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Besoins Fonctionnels : Collaboration d'Équipe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85900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1385888"/>
            <a:ext cx="32861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Rôles et Permissions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43000" y="1734145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Structure hiérarchique pour sécuriser les opérations :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143000" y="2217018"/>
            <a:ext cx="328612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Administrateurs (Forces de l'ordre)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" y="2422401"/>
            <a:ext cx="328612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Chefs d'équipe (Coordination terrain)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" y="2627784"/>
            <a:ext cx="328612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Volontaires (Recherche et observation)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485900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86375" y="1385888"/>
            <a:ext cx="318254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Messagerie Instantanée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286375" y="1734145"/>
            <a:ext cx="318254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Canaux de communication dédiés par opération :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286375" y="2011300"/>
            <a:ext cx="318254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Fils de discussion par secteur de recherche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286375" y="2216683"/>
            <a:ext cx="318254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Alertes prioritaires pour les découvertes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5286375" y="2422066"/>
            <a:ext cx="318254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Partage sécurisé de documents et consignes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7581"/>
            <a:ext cx="285750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407569"/>
            <a:ext cx="30646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Gestion des Ressources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43000" y="3755827"/>
            <a:ext cx="30646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Inventaire en temps réel du matériel disponible :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143000" y="4032982"/>
            <a:ext cx="306466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Localisation des drones et caméras thermiques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143000" y="4238365"/>
            <a:ext cx="306466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Disponibilité des unités cynophiles (chiens)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1143000" y="4443747"/>
            <a:ext cx="306466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Suivi des véhicules et équipements de secours</a:t>
            </a:r>
            <a:endParaRPr lang="en-US" sz="8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07581"/>
            <a:ext cx="250031" cy="285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86375" y="3407569"/>
            <a:ext cx="328255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Planification des Battues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286375" y="3755827"/>
            <a:ext cx="32825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Organisation logistique des recherches citoyennes :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5286375" y="4032982"/>
            <a:ext cx="328255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Création d'événements avec points de rendez-vous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5286375" y="4238365"/>
            <a:ext cx="328255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Gestion des inscriptions et présence des bénévoles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5286375" y="4443747"/>
            <a:ext cx="328255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Briefing de sécurité et distribution des secteurs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Sécurité et Confidentialité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93056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8719" y="1528763"/>
            <a:ext cx="325040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Protection des Données (RGPD)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78719" y="1891308"/>
            <a:ext cx="32504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Chiffrement de bout en bout des données personnelles et application stricte du droit à l'oubli dès la clôture d'un dossier de recherche.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593056"/>
            <a:ext cx="250031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22094" y="1528763"/>
            <a:ext cx="325040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Authentification Forte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322094" y="1891308"/>
            <a:ext cx="32504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Accès sécurisé par double authentification (2FA) pour les modérateurs, les forces de l'ordre et les chefs d'équipe de recherche.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43300"/>
            <a:ext cx="357188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78719" y="3479006"/>
            <a:ext cx="325040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Modération et Vérification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178719" y="3841552"/>
            <a:ext cx="32504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Filtrage rigoureux des contenus soumis pour prévenir le harcèlement et garantir que seules les informations vérifiées soient publiées.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3543300"/>
            <a:ext cx="321469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22094" y="3479006"/>
            <a:ext cx="325040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Intégrité des Preuves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322094" y="3841552"/>
            <a:ext cx="32504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Horodatage immuable et traçabilité complète de chaque témoignage ou indice soumis pour une exploitation judiciaire fiable.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Performance et Disponibilité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8775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8719" y="1528763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Haute Disponibilité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78719" y="1891308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Garantie de service </a:t>
            </a:r>
            <a:r>
              <a:rPr lang="en-US" sz="9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99.9%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La plateforme doit être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opérationnelle 24h/24 et 7j/7, car chaque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seconde est vitale lors d'une disparition.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3" y="1628775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93531" y="1528763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Scalabilité Horizontale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393531" y="1891308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Architecture capable d'absorber des </a:t>
            </a:r>
            <a:r>
              <a:rPr lang="en-US" sz="9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pics de </a:t>
            </a:r>
            <a:r>
              <a:rPr lang="en-US" sz="9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trafic massifs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lors de la diffusion d'alertes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majeures ou de recherches virales.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50456"/>
            <a:ext cx="214313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78719" y="3550444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Optimisation Mobile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178719" y="3912989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Interface </a:t>
            </a:r>
            <a:r>
              <a:rPr lang="en-US" sz="9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Responsive First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. Performance fluide sur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smartphones pour les équipes de recherche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agissant directement sur le terrain.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3650456"/>
            <a:ext cx="357188" cy="285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93531" y="3550444"/>
            <a:ext cx="31789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 Hors-ligne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393531" y="3912989"/>
            <a:ext cx="317896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Capacité de </a:t>
            </a:r>
            <a:r>
              <a:rPr lang="en-US" sz="9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saisie locale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et consultation de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cartes sans réseau, avec synchronisation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automatique dès le retour de la connexion.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Architecture Technique (Aperçu)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2518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1538" y="1528763"/>
            <a:ext cx="801886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Frontend</a:t>
            </a:r>
            <a:endParaRPr lang="en-US" sz="1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4905"/>
            <a:ext cx="128588" cy="1285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966317"/>
            <a:ext cx="22407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React / Next.js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Interface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moderne et performante.</a:t>
            </a:r>
            <a:endParaRPr lang="en-US" sz="9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23542"/>
            <a:ext cx="116281" cy="12858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4938" y="2494955"/>
            <a:ext cx="22530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PWA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Expérience mobile native et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 hors-ligne.</a:t>
            </a:r>
            <a:endParaRPr lang="en-US" sz="9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52180"/>
            <a:ext cx="144661" cy="12858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3317" y="3023592"/>
            <a:ext cx="222466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Mapbox GL JS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Rendu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cartographique fluide.</a:t>
            </a:r>
            <a:endParaRPr lang="en-US" sz="9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31" y="1572518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590906" y="1528763"/>
            <a:ext cx="127515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Backend &amp; API</a:t>
            </a:r>
            <a:endParaRPr lang="en-US" sz="12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31" y="2094905"/>
            <a:ext cx="126160" cy="12858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567047" y="1966317"/>
            <a:ext cx="224319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Node.js / Express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API REST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robuste et scalable.</a:t>
            </a:r>
            <a:endParaRPr lang="en-US" sz="9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31" y="2623542"/>
            <a:ext cx="140308" cy="12858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3581195" y="2494955"/>
            <a:ext cx="22290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Socket.io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Communication en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temps réel.</a:t>
            </a:r>
            <a:endParaRPr lang="en-US" sz="9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31" y="3152180"/>
            <a:ext cx="134503" cy="12858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3575391" y="3023592"/>
            <a:ext cx="22348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OAuth 2.0 / JWT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Authentification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sécurisée.</a:t>
            </a:r>
            <a:endParaRPr lang="en-US" sz="9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5991" y="1572518"/>
            <a:ext cx="150019" cy="17145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331734" y="1528763"/>
            <a:ext cx="150554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Données &amp; Cloud</a:t>
            </a:r>
            <a:endParaRPr lang="en-US" sz="120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5991" y="2094905"/>
            <a:ext cx="130569" cy="12858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6333716" y="1966317"/>
            <a:ext cx="22387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PostgreSQL / PostGIS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Données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géospatiales.</a:t>
            </a:r>
            <a:endParaRPr lang="en-US" sz="90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5991" y="2623542"/>
            <a:ext cx="160734" cy="128588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363881" y="2494955"/>
            <a:ext cx="22085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AWS / Azure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Hébergement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cloud évolutif.</a:t>
            </a:r>
            <a:endParaRPr lang="en-US" sz="900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5991" y="3152180"/>
            <a:ext cx="144661" cy="128588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347808" y="3023592"/>
            <a:ext cx="222466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S3 / CDN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- Stockage et diffusion </a:t>
            </a:r>
            <a:r>
              <a:rPr lang="en-US" sz="9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des médias.</a:t>
            </a:r>
            <a:endParaRPr lang="en-US" sz="900" dirty="0"/>
          </a:p>
        </p:txBody>
      </p:sp>
      <p:sp>
        <p:nvSpPr>
          <p:cNvPr id="28" name="Shape 13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14"/>
          <p:cNvSpPr/>
          <p:nvPr/>
        </p:nvSpPr>
        <p:spPr>
          <a:xfrm>
            <a:off x="0" y="4229100"/>
            <a:ext cx="9144000" cy="7144"/>
          </a:xfrm>
          <a:prstGeom prst="rect">
            <a:avLst/>
          </a:prstGeom>
          <a:solidFill>
            <a:srgbClr val="008080"/>
          </a:solidFill>
          <a:ln/>
        </p:spPr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562" y="4554141"/>
            <a:ext cx="96441" cy="128588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947440" y="4521994"/>
            <a:ext cx="10965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Google Maps API</a:t>
            </a:r>
            <a:endParaRPr lang="en-US" sz="90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60129" y="4554141"/>
            <a:ext cx="96441" cy="128588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2628007" y="4521994"/>
            <a:ext cx="17430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Firebase Cloud Messaging</a:t>
            </a:r>
            <a:endParaRPr lang="en-US" sz="900" dirty="0"/>
          </a:p>
        </p:txBody>
      </p:sp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87205" y="4554141"/>
            <a:ext cx="96441" cy="128588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4955084" y="4521994"/>
            <a:ext cx="13073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Twilio SMS Gateway</a:t>
            </a:r>
            <a:endParaRPr lang="en-US" sz="900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8513" y="4554141"/>
            <a:ext cx="96441" cy="128588"/>
          </a:xfrm>
          <a:prstGeom prst="rect">
            <a:avLst/>
          </a:prstGeom>
        </p:spPr>
      </p:pic>
      <p:sp>
        <p:nvSpPr>
          <p:cNvPr id="37" name="Text 18"/>
          <p:cNvSpPr/>
          <p:nvPr/>
        </p:nvSpPr>
        <p:spPr>
          <a:xfrm>
            <a:off x="6846391" y="4521994"/>
            <a:ext cx="151804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SendGrid Email Service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Roadmap : Évolutions futures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2525316"/>
            <a:ext cx="8001000" cy="28575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5" name="Shape 2"/>
          <p:cNvSpPr/>
          <p:nvPr/>
        </p:nvSpPr>
        <p:spPr>
          <a:xfrm>
            <a:off x="1077255" y="2311003"/>
            <a:ext cx="428625" cy="428625"/>
          </a:xfrm>
          <a:prstGeom prst="ellipse">
            <a:avLst/>
          </a:prstGeom>
          <a:solidFill>
            <a:srgbClr val="008080"/>
          </a:solidFill>
          <a:ln w="45720">
            <a:solidFill>
              <a:srgbClr val="F8F9F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43" y="2439591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953941"/>
            <a:ext cx="144016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IA &amp; Reconnaissance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71500" y="3532584"/>
            <a:ext cx="1440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Intégration de l'IA pour l'analyse faciale sur les flux vidéo publics et privés.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717443" y="2311003"/>
            <a:ext cx="428625" cy="428625"/>
          </a:xfrm>
          <a:prstGeom prst="ellipse">
            <a:avLst/>
          </a:prstGeom>
          <a:solidFill>
            <a:srgbClr val="008080"/>
          </a:solidFill>
          <a:ln w="45720">
            <a:solidFill>
              <a:srgbClr val="F8F9F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11688" y="2953941"/>
            <a:ext cx="144016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App Native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11688" y="3296841"/>
            <a:ext cx="14401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Lancement d'applications iOS/Android avec notifications géofencing avancées.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357632" y="2311003"/>
            <a:ext cx="428625" cy="428625"/>
          </a:xfrm>
          <a:prstGeom prst="ellipse">
            <a:avLst/>
          </a:prstGeom>
          <a:solidFill>
            <a:srgbClr val="008080"/>
          </a:solidFill>
          <a:ln w="45720">
            <a:solidFill>
              <a:srgbClr val="F8F9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788" y="2439591"/>
            <a:ext cx="214313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51877" y="2953941"/>
            <a:ext cx="144016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Systèmes Nationaux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851877" y="3532584"/>
            <a:ext cx="1440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Interconnexion directe avec les alertes enlèvement et bases de données officielles.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997820" y="2311003"/>
            <a:ext cx="428625" cy="428625"/>
          </a:xfrm>
          <a:prstGeom prst="ellipse">
            <a:avLst/>
          </a:prstGeom>
          <a:solidFill>
            <a:srgbClr val="008080"/>
          </a:solidFill>
          <a:ln w="45720">
            <a:solidFill>
              <a:srgbClr val="F8F9F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07" y="2439591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92065" y="2953941"/>
            <a:ext cx="144016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92065" y="3296841"/>
            <a:ext cx="1440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Certification immuable de l'historique des recherches et des preuves collectées.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638008" y="2311003"/>
            <a:ext cx="428625" cy="428625"/>
          </a:xfrm>
          <a:prstGeom prst="ellipse">
            <a:avLst/>
          </a:prstGeom>
          <a:solidFill>
            <a:srgbClr val="008080"/>
          </a:solidFill>
          <a:ln w="45720">
            <a:solidFill>
              <a:srgbClr val="F8F9F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596" y="2439591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253" y="2953941"/>
            <a:ext cx="144016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132253" y="3296841"/>
            <a:ext cx="14401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Déploiement international avec support multilingue et adaptation légale.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359866"/>
            <a:ext cx="7143750" cy="44237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571625" y="788491"/>
            <a:ext cx="6000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 outil vital pour sauver des vies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846659"/>
            <a:ext cx="285750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00250" y="1817191"/>
            <a:ext cx="553462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Centralisation et collaboration : les clés d'une recherche efficace.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413695"/>
            <a:ext cx="285750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00250" y="2254746"/>
            <a:ext cx="5572125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Une solution technologique au service de l'humain et de la solidarité.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110210"/>
            <a:ext cx="285750" cy="2000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00250" y="2951262"/>
            <a:ext cx="5572125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43A4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Prochaine étape : Développement du prototype MVP et tests terrain.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1571625" y="3469184"/>
            <a:ext cx="6000750" cy="957263"/>
          </a:xfrm>
          <a:prstGeom prst="rect">
            <a:avLst/>
          </a:prstGeom>
          <a:noFill/>
          <a:ln/>
        </p:spPr>
        <p:txBody>
          <a:bodyPr wrap="square" lIns="0" tIns="42519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08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Ensemble, augmentons les chances de retrouver nos proches.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571625" y="4426446"/>
            <a:ext cx="6000750" cy="35718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Merci de votre attention.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2026-05-20T17:59:43Z</dcterms:created>
  <dcterms:modified xsi:type="dcterms:W3CDTF">2026-05-20T17:59:43Z</dcterms:modified>
</cp:coreProperties>
</file>