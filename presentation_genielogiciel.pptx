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693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672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5.jpe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5.jpe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0125" y="987289"/>
            <a:ext cx="7143750" cy="316892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1428750" y="1415914"/>
            <a:ext cx="6286500" cy="10972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3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Plateforme de Recherche de Personnes Disparues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1428750" y="2656024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00808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L'urgence de la recherche de personnes disparues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6286" y="3545421"/>
            <a:ext cx="142875" cy="1428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930598" y="3520418"/>
            <a:ext cx="118229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Publicité Sociale</a:t>
            </a:r>
            <a:endParaRPr lang="en-US" sz="10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8639" y="3545421"/>
            <a:ext cx="160734" cy="14287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630811" y="3520418"/>
            <a:ext cx="149125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Coordination Terrain</a:t>
            </a:r>
            <a:endParaRPr lang="en-US" sz="10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7819" y="3545421"/>
            <a:ext cx="178594" cy="14287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657850" y="3520418"/>
            <a:ext cx="176986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Collaboration Citoyenne</a:t>
            </a:r>
            <a:endParaRPr lang="en-US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6DBB0C-B70F-4162-8DCB-6F8A3344552D}"/>
              </a:ext>
            </a:extLst>
          </p:cNvPr>
          <p:cNvSpPr txBox="1"/>
          <p:nvPr/>
        </p:nvSpPr>
        <p:spPr>
          <a:xfrm>
            <a:off x="2826327" y="4434943"/>
            <a:ext cx="33167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Mohamed Lemin Taleb El Abed 12530094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Une plateforme centralisée et collaborative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571500" y="1385888"/>
            <a:ext cx="428625" cy="428625"/>
          </a:xfrm>
          <a:prstGeom prst="ellipse">
            <a:avLst/>
          </a:prstGeom>
          <a:solidFill>
            <a:srgbClr val="008080"/>
          </a:solidFill>
          <a:ln/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88" y="1514475"/>
            <a:ext cx="17145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43000" y="1385888"/>
            <a:ext cx="3286125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Publicité Sociale Dédiée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1143000" y="1757363"/>
            <a:ext cx="328612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Un espace exclusif pour les avis de recherche, évitant la dilution de l'information sur les réseaux sociaux généralistes.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714875" y="1385888"/>
            <a:ext cx="428625" cy="428625"/>
          </a:xfrm>
          <a:prstGeom prst="ellipse">
            <a:avLst/>
          </a:prstGeom>
          <a:solidFill>
            <a:srgbClr val="008080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2747" y="1514475"/>
            <a:ext cx="192881" cy="17145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286375" y="1385888"/>
            <a:ext cx="3286125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Centralisation par Zone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286375" y="1757363"/>
            <a:ext cx="328612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Organisation des opérations de recherche par secteurs géographiques précis pour une efficacité maximale sur le terrain.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571500" y="3407569"/>
            <a:ext cx="428625" cy="428625"/>
          </a:xfrm>
          <a:prstGeom prst="ellipse">
            <a:avLst/>
          </a:prstGeom>
          <a:solidFill>
            <a:srgbClr val="008080"/>
          </a:solidFill>
          <a:ln/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656" y="3536156"/>
            <a:ext cx="214313" cy="1714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3407569"/>
            <a:ext cx="3286125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Collaboration en Temps Réel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143000" y="3779044"/>
            <a:ext cx="328612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Outils de coordination directe entre les familles, les bénévoles et les professionnels de la recherche.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4714875" y="3407569"/>
            <a:ext cx="428625" cy="428625"/>
          </a:xfrm>
          <a:prstGeom prst="ellipse">
            <a:avLst/>
          </a:prstGeom>
          <a:solidFill>
            <a:srgbClr val="008080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4894" y="3536156"/>
            <a:ext cx="128588" cy="17145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86375" y="3407569"/>
            <a:ext cx="3286125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Alerte Géolocalisée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5286375" y="3779044"/>
            <a:ext cx="328612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Système de notification instantanée pour mobiliser la communauté locale dès les premières minutes de la disparition.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MVP : Les fonctionnalités clés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94" y="1778794"/>
            <a:ext cx="228600" cy="228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071563" y="1528763"/>
            <a:ext cx="310038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Déclaration Simplifiée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1071563" y="1807369"/>
            <a:ext cx="3062883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Formulaire rapide pour uploader photo,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1071563" y="2043113"/>
            <a:ext cx="2643188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signalement et dernier lieu connu.</a:t>
            </a:r>
            <a:endParaRPr lang="en-US" sz="11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081" y="2807494"/>
            <a:ext cx="200025" cy="2286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71563" y="2557463"/>
            <a:ext cx="310038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Diffusion Instantanée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1071563" y="2836069"/>
            <a:ext cx="2777133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Publication automatique de l'avis et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1071563" y="3071813"/>
            <a:ext cx="2480667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partage sur les réseaux sociaux.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506" y="3836194"/>
            <a:ext cx="257175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71563" y="3586163"/>
            <a:ext cx="310038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Carte Interactive</a:t>
            </a:r>
            <a:endParaRPr lang="en-US" sz="1100" dirty="0"/>
          </a:p>
        </p:txBody>
      </p:sp>
      <p:sp>
        <p:nvSpPr>
          <p:cNvPr id="14" name="Text 8"/>
          <p:cNvSpPr/>
          <p:nvPr/>
        </p:nvSpPr>
        <p:spPr>
          <a:xfrm>
            <a:off x="1071563" y="3864769"/>
            <a:ext cx="2848570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Visualisation des disparitions actives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1071563" y="4100513"/>
            <a:ext cx="1862733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par zone géographique.</a:t>
            </a:r>
            <a:endParaRPr lang="en-US" sz="11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2056" y="1778794"/>
            <a:ext cx="257175" cy="2286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472113" y="1528763"/>
            <a:ext cx="310038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Signalement de Pistes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5472113" y="1807369"/>
            <a:ext cx="2355652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Possibilité pour les citoyens de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5472113" y="2043113"/>
            <a:ext cx="3034308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soumettre des témoignages et indices.</a:t>
            </a:r>
            <a:endParaRPr lang="en-US" sz="115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7769" y="2807494"/>
            <a:ext cx="28575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472113" y="2557463"/>
            <a:ext cx="310038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Coordination de Base</a:t>
            </a:r>
            <a:endParaRPr lang="en-US" sz="1100" dirty="0"/>
          </a:p>
        </p:txBody>
      </p:sp>
      <p:sp>
        <p:nvSpPr>
          <p:cNvPr id="22" name="Text 14"/>
          <p:cNvSpPr/>
          <p:nvPr/>
        </p:nvSpPr>
        <p:spPr>
          <a:xfrm>
            <a:off x="5472113" y="2836069"/>
            <a:ext cx="2686050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Espace minimal pour organiser les</a:t>
            </a:r>
            <a:endParaRPr lang="en-US" sz="1150" dirty="0"/>
          </a:p>
        </p:txBody>
      </p:sp>
      <p:sp>
        <p:nvSpPr>
          <p:cNvPr id="23" name="Text 15"/>
          <p:cNvSpPr/>
          <p:nvPr/>
        </p:nvSpPr>
        <p:spPr>
          <a:xfrm>
            <a:off x="5472113" y="3071813"/>
            <a:ext cx="3045023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premiers groupes de recherche locaux.</a:t>
            </a:r>
            <a:endParaRPr lang="en-US" sz="1150" dirty="0"/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36344" y="3836194"/>
            <a:ext cx="228600" cy="228600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5472113" y="3586163"/>
            <a:ext cx="3100388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Validation Rapide</a:t>
            </a:r>
            <a:endParaRPr lang="en-US" sz="1100" dirty="0"/>
          </a:p>
        </p:txBody>
      </p:sp>
      <p:sp>
        <p:nvSpPr>
          <p:cNvPr id="26" name="Text 17"/>
          <p:cNvSpPr/>
          <p:nvPr/>
        </p:nvSpPr>
        <p:spPr>
          <a:xfrm>
            <a:off x="5472113" y="3864769"/>
            <a:ext cx="2786063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Processus de vérification initial pour</a:t>
            </a:r>
            <a:endParaRPr lang="en-US" sz="1150" dirty="0"/>
          </a:p>
        </p:txBody>
      </p:sp>
      <p:sp>
        <p:nvSpPr>
          <p:cNvPr id="27" name="Text 18"/>
          <p:cNvSpPr/>
          <p:nvPr/>
        </p:nvSpPr>
        <p:spPr>
          <a:xfrm>
            <a:off x="5472113" y="4100513"/>
            <a:ext cx="2405658" cy="219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garantir la véracité des alertes.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Besoins Fonctionnels : Déclaration et Alertes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78769"/>
            <a:ext cx="250031" cy="20002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28688" y="1528763"/>
            <a:ext cx="2568178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Gestion des Déclarations</a:t>
            </a:r>
            <a:endParaRPr lang="en-US" sz="14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43113"/>
            <a:ext cx="128588" cy="16430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07244" y="2043113"/>
            <a:ext cx="3550444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Profils de disparus :</a:t>
            </a: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Stockage sécurisé des photos haute résolution et descriptions physiques détaillées.</a:t>
            </a:r>
            <a:endParaRPr lang="en-US" sz="10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821781"/>
            <a:ext cx="128588" cy="164306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807244" y="2821781"/>
            <a:ext cx="3550444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Validation des données :</a:t>
            </a: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Processus de vérification rigoureux pour prévenir les fausses alertes et le spam.</a:t>
            </a:r>
            <a:endParaRPr lang="en-US" sz="10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600450"/>
            <a:ext cx="128588" cy="164306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807244" y="3600450"/>
            <a:ext cx="3550444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Tableau de bord famille :</a:t>
            </a: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Interface dédiée permettant aux proches de mettre à jour les informations en temps réel.</a:t>
            </a:r>
            <a:endParaRPr lang="en-US" sz="10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6313" y="1578769"/>
            <a:ext cx="225028" cy="200025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5118497" y="1528763"/>
            <a:ext cx="1857375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Système d'Alertes</a:t>
            </a:r>
            <a:endParaRPr lang="en-US" sz="1400" dirty="0"/>
          </a:p>
        </p:txBody>
      </p:sp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6313" y="2043113"/>
            <a:ext cx="96441" cy="164306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4989909" y="2043113"/>
            <a:ext cx="3582591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Alertes "Flash" :</a:t>
            </a: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Notifications push et emails envoyés instantanément aux utilisateurs dans un rayon défini.</a:t>
            </a:r>
            <a:endParaRPr lang="en-US" sz="10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6313" y="2821781"/>
            <a:ext cx="96441" cy="16430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4989909" y="2821781"/>
            <a:ext cx="3582591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Génération d'affiches :</a:t>
            </a: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Création automatique de flyers PDF optimisés pour l'impression et le partage.</a:t>
            </a:r>
            <a:endParaRPr lang="en-US" sz="1000" dirty="0"/>
          </a:p>
        </p:txBody>
      </p:sp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6313" y="3600450"/>
            <a:ext cx="112514" cy="164306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5005983" y="3600450"/>
            <a:ext cx="3566517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Relais social :</a:t>
            </a:r>
            <a:r>
              <a:rPr lang="en-US" sz="10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Boutons de partage rapide vers les messageries et réseaux sociaux pour une viralité contrôlée.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Besoins Fonctionnels : Coordination par Zone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593056"/>
            <a:ext cx="285750" cy="2857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78719" y="1528763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Cartographie Dynamique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1178719" y="1891308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Découpage précis de la zone de recherche en secteurs assignables aux différentes équipes pour une couverture exhaustive.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3469" y="1593056"/>
            <a:ext cx="214313" cy="2857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393531" y="1528763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Suivi GPS en Temps Réel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5393531" y="1891308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Visualisation de la position des équipes sur le terrain pour assurer leur sécurité et vérifier les zones déjà parcourues.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8" y="3614738"/>
            <a:ext cx="285750" cy="2857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78719" y="3550444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Journal de Recherche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1178719" y="3912989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Enregistrement historique des zones fouillées et des résultats obtenus pour éviter les redondances et optimiser les ressources.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7750" y="3614738"/>
            <a:ext cx="285750" cy="28575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393531" y="3550444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Signalement de Preuves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5393531" y="3912989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Collecte de photos et d'indices géotagués directement depuis le terrain pour une analyse immédiate par le centre de commandement.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Besoins Fonctionnels : Collaboration d'Équipe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485900"/>
            <a:ext cx="357188" cy="2857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43000" y="1385888"/>
            <a:ext cx="3286125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Rôles et Permissions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1143000" y="1734145"/>
            <a:ext cx="32861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Structure hiérarchique pour sécuriser les opérations :</a:t>
            </a:r>
            <a:endParaRPr lang="en-US" sz="950" dirty="0"/>
          </a:p>
        </p:txBody>
      </p:sp>
      <p:sp>
        <p:nvSpPr>
          <p:cNvPr id="7" name="Text 3"/>
          <p:cNvSpPr/>
          <p:nvPr/>
        </p:nvSpPr>
        <p:spPr>
          <a:xfrm>
            <a:off x="1143000" y="2217018"/>
            <a:ext cx="3286125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Administrateurs (Forces de l'ordre)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43000" y="2422401"/>
            <a:ext cx="3286125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Chefs d'équipe (Coordination terrain)</a:t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143000" y="2627784"/>
            <a:ext cx="3286125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Volontaires (Recherche et observation)</a:t>
            </a:r>
            <a:endParaRPr lang="en-US" sz="8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1485900"/>
            <a:ext cx="357188" cy="285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286375" y="1385888"/>
            <a:ext cx="3182541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Messagerie Instantanée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5286375" y="1734145"/>
            <a:ext cx="3182541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Canaux de communication dédiés par opération :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286375" y="2011300"/>
            <a:ext cx="3182541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Fils de discussion par secteur de recherche</a:t>
            </a:r>
            <a:endParaRPr lang="en-US" sz="850" dirty="0"/>
          </a:p>
        </p:txBody>
      </p:sp>
      <p:sp>
        <p:nvSpPr>
          <p:cNvPr id="14" name="Text 9"/>
          <p:cNvSpPr/>
          <p:nvPr/>
        </p:nvSpPr>
        <p:spPr>
          <a:xfrm>
            <a:off x="5286375" y="2216683"/>
            <a:ext cx="3182541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Alertes prioritaires pour les découvertes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5286375" y="2422066"/>
            <a:ext cx="3182541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Partage sécurisé de documents et consignes</a:t>
            </a:r>
            <a:endParaRPr lang="en-US" sz="8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507581"/>
            <a:ext cx="285750" cy="28575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3407569"/>
            <a:ext cx="30646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Gestion des Ressources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1143000" y="3755827"/>
            <a:ext cx="3064669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Inventaire en temps réel du matériel disponible :</a:t>
            </a:r>
            <a:endParaRPr lang="en-US" sz="950" dirty="0"/>
          </a:p>
        </p:txBody>
      </p:sp>
      <p:sp>
        <p:nvSpPr>
          <p:cNvPr id="19" name="Text 13"/>
          <p:cNvSpPr/>
          <p:nvPr/>
        </p:nvSpPr>
        <p:spPr>
          <a:xfrm>
            <a:off x="1143000" y="4032982"/>
            <a:ext cx="3064669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Localisation des drones et caméras thermiques</a:t>
            </a:r>
            <a:endParaRPr lang="en-US" sz="850" dirty="0"/>
          </a:p>
        </p:txBody>
      </p:sp>
      <p:sp>
        <p:nvSpPr>
          <p:cNvPr id="20" name="Text 14"/>
          <p:cNvSpPr/>
          <p:nvPr/>
        </p:nvSpPr>
        <p:spPr>
          <a:xfrm>
            <a:off x="1143000" y="4238365"/>
            <a:ext cx="3064669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Disponibilité des unités cynophiles (chiens)</a:t>
            </a:r>
            <a:endParaRPr lang="en-US" sz="850" dirty="0"/>
          </a:p>
        </p:txBody>
      </p:sp>
      <p:sp>
        <p:nvSpPr>
          <p:cNvPr id="21" name="Text 15"/>
          <p:cNvSpPr/>
          <p:nvPr/>
        </p:nvSpPr>
        <p:spPr>
          <a:xfrm>
            <a:off x="1143000" y="4443747"/>
            <a:ext cx="3064669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Suivi des véhicules et équipements de secours</a:t>
            </a:r>
            <a:endParaRPr lang="en-US" sz="850" dirty="0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4875" y="3507581"/>
            <a:ext cx="250031" cy="28575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286375" y="3407569"/>
            <a:ext cx="3282553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Planification des Battues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286375" y="3755827"/>
            <a:ext cx="3282553" cy="2057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Organisation logistique des recherches citoyennes :</a:t>
            </a:r>
            <a:endParaRPr lang="en-US" sz="950" dirty="0"/>
          </a:p>
        </p:txBody>
      </p:sp>
      <p:sp>
        <p:nvSpPr>
          <p:cNvPr id="25" name="Text 18"/>
          <p:cNvSpPr/>
          <p:nvPr/>
        </p:nvSpPr>
        <p:spPr>
          <a:xfrm>
            <a:off x="5286375" y="4032982"/>
            <a:ext cx="3282553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Création d'événements avec points de rendez-vous</a:t>
            </a:r>
            <a:endParaRPr lang="en-US" sz="850" dirty="0"/>
          </a:p>
        </p:txBody>
      </p:sp>
      <p:sp>
        <p:nvSpPr>
          <p:cNvPr id="26" name="Text 19"/>
          <p:cNvSpPr/>
          <p:nvPr/>
        </p:nvSpPr>
        <p:spPr>
          <a:xfrm>
            <a:off x="5286375" y="4238365"/>
            <a:ext cx="3282553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Gestion des inscriptions et présence des bénévoles</a:t>
            </a:r>
            <a:endParaRPr lang="en-US" sz="850" dirty="0"/>
          </a:p>
        </p:txBody>
      </p:sp>
      <p:sp>
        <p:nvSpPr>
          <p:cNvPr id="27" name="Text 20"/>
          <p:cNvSpPr/>
          <p:nvPr/>
        </p:nvSpPr>
        <p:spPr>
          <a:xfrm>
            <a:off x="5286375" y="4443747"/>
            <a:ext cx="3282553" cy="169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Briefing de sécurité et distribution des secteurs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Sécurité et Confidentialité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93056"/>
            <a:ext cx="357188" cy="2857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78719" y="1528763"/>
            <a:ext cx="3250406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Protection des Données (RGPD)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1178719" y="1891308"/>
            <a:ext cx="325040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Chiffrement de bout en bout des données personnelles et application stricte du droit à l'oubli dès la clôture d'un dossier de recherche.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1593056"/>
            <a:ext cx="250031" cy="2857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322094" y="1528763"/>
            <a:ext cx="3250406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Authentification Forte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5322094" y="1891308"/>
            <a:ext cx="325040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Accès sécurisé par double authentification (2FA) pour les modérateurs, les forces de l'ordre et les chefs d'équipe de recherche.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543300"/>
            <a:ext cx="357188" cy="2857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78719" y="3479006"/>
            <a:ext cx="3250406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Modération et Vérification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1178719" y="3841552"/>
            <a:ext cx="325040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Filtrage rigoureux des contenus soumis pour prévenir le harcèlement et garantir que seules les informations vérifiées soient publiées.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4875" y="3543300"/>
            <a:ext cx="321469" cy="28575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322094" y="3479006"/>
            <a:ext cx="3250406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Intégrité des Preuves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5322094" y="3841552"/>
            <a:ext cx="3250406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Horodatage immuable et traçabilité complète de chaque témoignage ou indice soumis pour une exploitation judiciaire fiable.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Performance et Disponibilité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628775"/>
            <a:ext cx="285750" cy="2857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78719" y="1528763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Haute Disponibilité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1178719" y="1891308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Garantie de service </a:t>
            </a:r>
            <a:r>
              <a:rPr lang="en-US" sz="9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99.9%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. La plateforme doit être opérationnelle 24h/24 et 7j/7, car chaque seconde est vitale lors d'une disparition.</a:t>
            </a:r>
            <a:endParaRPr lang="en-US" sz="9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6313" y="1628775"/>
            <a:ext cx="285750" cy="28575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393531" y="1528763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Scalabilité Horizontale</a:t>
            </a:r>
            <a:endParaRPr lang="en-US" sz="1300" dirty="0"/>
          </a:p>
        </p:txBody>
      </p:sp>
      <p:sp>
        <p:nvSpPr>
          <p:cNvPr id="9" name="Text 4"/>
          <p:cNvSpPr/>
          <p:nvPr/>
        </p:nvSpPr>
        <p:spPr>
          <a:xfrm>
            <a:off x="5393531" y="1891308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Architecture capable d'absorber des </a:t>
            </a:r>
            <a:r>
              <a:rPr lang="en-US" sz="9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pics de trafic massifs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lors de la diffusion d'alertes majeures ou de recherches virales.</a:t>
            </a:r>
            <a:endParaRPr lang="en-US" sz="9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650456"/>
            <a:ext cx="214313" cy="28575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78719" y="3550444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Optimisation Mobile</a:t>
            </a:r>
            <a:endParaRPr lang="en-US" sz="1300" dirty="0"/>
          </a:p>
        </p:txBody>
      </p:sp>
      <p:sp>
        <p:nvSpPr>
          <p:cNvPr id="12" name="Text 6"/>
          <p:cNvSpPr/>
          <p:nvPr/>
        </p:nvSpPr>
        <p:spPr>
          <a:xfrm>
            <a:off x="1178719" y="3912989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Interface </a:t>
            </a:r>
            <a:r>
              <a:rPr lang="en-US" sz="9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Responsive First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. Performance fluide sur smartphones pour les équipes de recherche agissant directement sur le terrain.</a:t>
            </a:r>
            <a:endParaRPr lang="en-US" sz="9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6313" y="3650456"/>
            <a:ext cx="357188" cy="28575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5393531" y="3550444"/>
            <a:ext cx="3178969" cy="276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Mode Hors-ligne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5393531" y="3912989"/>
            <a:ext cx="3178969" cy="6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Capacité de </a:t>
            </a:r>
            <a:r>
              <a:rPr lang="en-US" sz="9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saisie locale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et consultation de cartes sans réseau, avec synchronisation automatique dès le retour de la connexion.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Architecture Technique (Aperçu)</a:t>
            </a:r>
            <a:endParaRPr lang="en-US" sz="2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72518"/>
            <a:ext cx="214313" cy="1714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71538" y="1528763"/>
            <a:ext cx="801886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Frontend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4905"/>
            <a:ext cx="128588" cy="128588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07244" y="1966317"/>
            <a:ext cx="2240738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React / Next.js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Interface moderne et performante.</a:t>
            </a:r>
            <a:endParaRPr lang="en-US" sz="9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623542"/>
            <a:ext cx="116281" cy="128588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794938" y="2494955"/>
            <a:ext cx="2253044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PWA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Expérience mobile native et mode hors-ligne.</a:t>
            </a:r>
            <a:endParaRPr lang="en-US" sz="9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152180"/>
            <a:ext cx="144661" cy="128588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823317" y="3023592"/>
            <a:ext cx="2224664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Mapbox GL JS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Rendu cartographique fluide.</a:t>
            </a:r>
            <a:endParaRPr lang="en-US" sz="9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3731" y="1572518"/>
            <a:ext cx="171450" cy="171450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3590906" y="1528763"/>
            <a:ext cx="1275159" cy="2589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Backend &amp; API</a:t>
            </a:r>
            <a:endParaRPr lang="en-US" sz="1200" dirty="0"/>
          </a:p>
        </p:txBody>
      </p:sp>
      <p:pic>
        <p:nvPicPr>
          <p:cNvPr id="1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3731" y="2094905"/>
            <a:ext cx="126160" cy="128588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3567047" y="1966317"/>
            <a:ext cx="2243193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Node.js / Express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API REST robuste et scalable.</a:t>
            </a:r>
            <a:endParaRPr lang="en-US" sz="9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31" y="2623542"/>
            <a:ext cx="140308" cy="128588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3581195" y="2494955"/>
            <a:ext cx="2229045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Socket.io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Communication en temps réel.</a:t>
            </a:r>
            <a:endParaRPr lang="en-US" sz="900" dirty="0"/>
          </a:p>
        </p:txBody>
      </p:sp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3731" y="3152180"/>
            <a:ext cx="134503" cy="128588"/>
          </a:xfrm>
          <a:prstGeom prst="rect">
            <a:avLst/>
          </a:prstGeom>
        </p:spPr>
      </p:pic>
      <p:sp>
        <p:nvSpPr>
          <p:cNvPr id="19" name="Text 8"/>
          <p:cNvSpPr/>
          <p:nvPr/>
        </p:nvSpPr>
        <p:spPr>
          <a:xfrm>
            <a:off x="3575391" y="3023592"/>
            <a:ext cx="223485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OAuth 2.0 / JWT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Authentification sécurisée.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5991" y="1572518"/>
            <a:ext cx="150019" cy="171450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6331734" y="1528763"/>
            <a:ext cx="1505545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Données &amp; Cloud</a:t>
            </a:r>
            <a:endParaRPr lang="en-US" sz="120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5991" y="2094905"/>
            <a:ext cx="130569" cy="128588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6333716" y="1966317"/>
            <a:ext cx="223875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PostgreSQL / PostGIS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Données géospatiales.</a:t>
            </a:r>
            <a:endParaRPr lang="en-US" sz="9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5991" y="2623542"/>
            <a:ext cx="160734" cy="128588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363881" y="2494955"/>
            <a:ext cx="2208591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AWS / Azure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Hébergement cloud évolutif.</a:t>
            </a:r>
            <a:endParaRPr lang="en-US" sz="9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5991" y="3152180"/>
            <a:ext cx="144661" cy="128588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6347808" y="3023592"/>
            <a:ext cx="2224664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S3 / CDN</a:t>
            </a:r>
            <a:r>
              <a:rPr lang="en-US" sz="9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 - Stockage et diffusion des médias.</a:t>
            </a:r>
            <a:endParaRPr lang="en-US" sz="900" dirty="0"/>
          </a:p>
        </p:txBody>
      </p:sp>
      <p:sp>
        <p:nvSpPr>
          <p:cNvPr id="28" name="Shape 13"/>
          <p:cNvSpPr/>
          <p:nvPr/>
        </p:nvSpPr>
        <p:spPr>
          <a:xfrm>
            <a:off x="0" y="4229100"/>
            <a:ext cx="9144000" cy="914400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29" name="Shape 14"/>
          <p:cNvSpPr/>
          <p:nvPr/>
        </p:nvSpPr>
        <p:spPr>
          <a:xfrm>
            <a:off x="0" y="4229100"/>
            <a:ext cx="9144000" cy="7144"/>
          </a:xfrm>
          <a:prstGeom prst="rect">
            <a:avLst/>
          </a:prstGeom>
          <a:solidFill>
            <a:srgbClr val="008080"/>
          </a:solidFill>
          <a:ln/>
        </p:spPr>
      </p:sp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9562" y="4554141"/>
            <a:ext cx="96441" cy="128588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947440" y="4521994"/>
            <a:ext cx="1096566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Google Maps API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460129" y="4554141"/>
            <a:ext cx="96441" cy="128588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2628007" y="4521994"/>
            <a:ext cx="1743075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Firebase Cloud Messaging</a:t>
            </a:r>
            <a:endParaRPr lang="en-US" sz="900" dirty="0"/>
          </a:p>
        </p:txBody>
      </p:sp>
      <p:pic>
        <p:nvPicPr>
          <p:cNvPr id="34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787205" y="4554141"/>
            <a:ext cx="96441" cy="128588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4955084" y="4521994"/>
            <a:ext cx="1307306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Twilio SMS Gateway</a:t>
            </a:r>
            <a:endParaRPr lang="en-US" sz="900" dirty="0"/>
          </a:p>
        </p:txBody>
      </p:sp>
      <p:pic>
        <p:nvPicPr>
          <p:cNvPr id="36" name="Image 1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78513" y="4554141"/>
            <a:ext cx="96441" cy="128588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6846391" y="4521994"/>
            <a:ext cx="1518047" cy="1928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3A4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SendGrid Email Service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428625"/>
            <a:ext cx="80010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Roadmap : Évolutions futures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571500" y="2525316"/>
            <a:ext cx="8001000" cy="28575"/>
          </a:xfrm>
          <a:prstGeom prst="rect">
            <a:avLst/>
          </a:prstGeom>
          <a:solidFill>
            <a:srgbClr val="008080"/>
          </a:solidFill>
          <a:ln/>
        </p:spPr>
      </p:sp>
      <p:sp>
        <p:nvSpPr>
          <p:cNvPr id="5" name="Shape 2"/>
          <p:cNvSpPr/>
          <p:nvPr/>
        </p:nvSpPr>
        <p:spPr>
          <a:xfrm>
            <a:off x="1077255" y="2311003"/>
            <a:ext cx="428625" cy="428625"/>
          </a:xfrm>
          <a:prstGeom prst="ellipse">
            <a:avLst/>
          </a:prstGeom>
          <a:solidFill>
            <a:srgbClr val="008080"/>
          </a:solidFill>
          <a:ln w="45720">
            <a:solidFill>
              <a:srgbClr val="F8F9FA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5843" y="2439591"/>
            <a:ext cx="171450" cy="1714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" y="2953941"/>
            <a:ext cx="1440163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IA &amp; Reconnaissance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71500" y="3532584"/>
            <a:ext cx="14401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Intégration de l'IA pour l'analyse faciale sur les flux vidéo publics et privés.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717443" y="2311003"/>
            <a:ext cx="428625" cy="428625"/>
          </a:xfrm>
          <a:prstGeom prst="ellipse">
            <a:avLst/>
          </a:prstGeom>
          <a:solidFill>
            <a:srgbClr val="008080"/>
          </a:solidFill>
          <a:ln w="45720">
            <a:solidFill>
              <a:srgbClr val="F8F9F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211688" y="2953941"/>
            <a:ext cx="144016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App Native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211688" y="3296841"/>
            <a:ext cx="144016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Lancement d'applications iOS/Android avec notifications géofencing avancées.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357632" y="2311003"/>
            <a:ext cx="428625" cy="428625"/>
          </a:xfrm>
          <a:prstGeom prst="ellipse">
            <a:avLst/>
          </a:prstGeom>
          <a:solidFill>
            <a:srgbClr val="008080"/>
          </a:solidFill>
          <a:ln w="45720">
            <a:solidFill>
              <a:srgbClr val="F8F9FA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4788" y="2439591"/>
            <a:ext cx="214313" cy="1714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851877" y="2953941"/>
            <a:ext cx="1440163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Systèmes Nationaux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851877" y="3532584"/>
            <a:ext cx="14401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Interconnexion directe avec les alertes enlèvement et bases de données officielles.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5997820" y="2311003"/>
            <a:ext cx="428625" cy="428625"/>
          </a:xfrm>
          <a:prstGeom prst="ellipse">
            <a:avLst/>
          </a:prstGeom>
          <a:solidFill>
            <a:srgbClr val="008080"/>
          </a:solidFill>
          <a:ln w="45720">
            <a:solidFill>
              <a:srgbClr val="F8F9FA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07" y="2439591"/>
            <a:ext cx="171450" cy="17145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92065" y="2953941"/>
            <a:ext cx="144016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Blockchain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92065" y="3296841"/>
            <a:ext cx="14401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Certification immuable de l'historique des recherches et des preuves collectées.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638008" y="2311003"/>
            <a:ext cx="428625" cy="428625"/>
          </a:xfrm>
          <a:prstGeom prst="ellipse">
            <a:avLst/>
          </a:prstGeom>
          <a:solidFill>
            <a:srgbClr val="008080"/>
          </a:solidFill>
          <a:ln w="45720">
            <a:solidFill>
              <a:srgbClr val="F8F9FA"/>
            </a:solidFill>
            <a:prstDash val="solid"/>
          </a:ln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6596" y="2439591"/>
            <a:ext cx="171450" cy="17145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32253" y="2953941"/>
            <a:ext cx="1440163" cy="235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Expansion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132253" y="3296841"/>
            <a:ext cx="14401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Déploiement international avec support multilingue et adaptation légale.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0125" y="359866"/>
            <a:ext cx="7143750" cy="44237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1571625" y="788491"/>
            <a:ext cx="60007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212529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Un outil vital pour sauver des vies</a:t>
            </a:r>
            <a:endParaRPr lang="en-US" sz="245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1846659"/>
            <a:ext cx="285750" cy="20002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000250" y="1817191"/>
            <a:ext cx="5534620" cy="258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Centralisation et collaboration : les clés d'une recherche efficace.</a:t>
            </a:r>
            <a:endParaRPr lang="en-US" sz="12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1625" y="2413695"/>
            <a:ext cx="285750" cy="20002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2000250" y="2254746"/>
            <a:ext cx="5572125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Une solution technologique au service de l'humain et de la solidarité.</a:t>
            </a:r>
            <a:endParaRPr lang="en-US" sz="12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1625" y="3110210"/>
            <a:ext cx="285750" cy="200025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2000250" y="2951262"/>
            <a:ext cx="5572125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343A40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Prochaine étape : Développement du prototype MVP et tests terrain.</a:t>
            </a:r>
            <a:endParaRPr lang="en-US" sz="1250" dirty="0"/>
          </a:p>
        </p:txBody>
      </p:sp>
      <p:sp>
        <p:nvSpPr>
          <p:cNvPr id="11" name="Text 5"/>
          <p:cNvSpPr/>
          <p:nvPr/>
        </p:nvSpPr>
        <p:spPr>
          <a:xfrm>
            <a:off x="1571625" y="3469184"/>
            <a:ext cx="6000750" cy="957263"/>
          </a:xfrm>
          <a:prstGeom prst="rect">
            <a:avLst/>
          </a:prstGeom>
          <a:noFill/>
          <a:ln/>
        </p:spPr>
        <p:txBody>
          <a:bodyPr wrap="square" lIns="0" tIns="425196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8080"/>
                </a:solidFill>
                <a:latin typeface="Poppins Bold" pitchFamily="34" charset="0"/>
                <a:ea typeface="Poppins Bold" pitchFamily="34" charset="-122"/>
                <a:cs typeface="Poppins Bold" pitchFamily="34" charset="-120"/>
              </a:rPr>
              <a:t>Ensemble, augmentons les chances de retrouver nos proches.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1571625" y="4426446"/>
            <a:ext cx="6000750" cy="357188"/>
          </a:xfrm>
          <a:prstGeom prst="rect">
            <a:avLst/>
          </a:prstGeom>
          <a:noFill/>
          <a:ln/>
        </p:spPr>
        <p:txBody>
          <a:bodyPr wrap="square" lIns="0" tIns="170053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C757D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Merci de votre attention.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962</Words>
  <Application>Microsoft Office PowerPoint</Application>
  <PresentationFormat>On-screen Show (16:9)</PresentationFormat>
  <Paragraphs>136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Poppins Bold</vt:lpstr>
      <vt:lpstr>Arial</vt:lpstr>
      <vt:lpstr>Poppins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Mohamed Lemin Taleb Abed</cp:lastModifiedBy>
  <cp:revision>2</cp:revision>
  <dcterms:created xsi:type="dcterms:W3CDTF">2026-05-20T17:59:43Z</dcterms:created>
  <dcterms:modified xsi:type="dcterms:W3CDTF">2026-05-21T14:40:56Z</dcterms:modified>
</cp:coreProperties>
</file>